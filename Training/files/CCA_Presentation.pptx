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50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4A02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1005840" cy="100584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5212080"/>
            <a:ext cx="1463040" cy="54864"/>
          </a:xfrm>
          <a:prstGeom prst="rect">
            <a:avLst/>
          </a:prstGeom>
          <a:solidFill>
            <a:srgbClr val="F4A02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5349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Syllabus  •  v2.0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Certification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Build &amp; Govern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with Claude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937760" y="356616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657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37760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56616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657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66560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95360" y="356616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3657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595360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424160" y="356616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424160" y="3657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0424160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61264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Professional Training Programme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at a Glance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Modules · 40+ Hours · Self-Paced with Live Mentoring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" cy="932688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Fluency Foundations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5270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005840"/>
            <a:ext cx="777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57400"/>
            <a:ext cx="502920" cy="932688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5740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1671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Platform Mastery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578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057400"/>
            <a:ext cx="777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08960"/>
            <a:ext cx="502920" cy="932688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10896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2186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&amp; Evaluation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630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108960"/>
            <a:ext cx="777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EBF4F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160520"/>
            <a:ext cx="502920" cy="932688"/>
          </a:xfrm>
          <a:prstGeom prst="roundRect">
            <a:avLst>
              <a:gd name="adj" fmla="val 14545"/>
            </a:avLst>
          </a:prstGeom>
          <a:solidFill>
            <a:srgbClr val="2E6DA4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16052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2702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the Claude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6817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hrs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4160520"/>
            <a:ext cx="777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521208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EBF4F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5212080"/>
            <a:ext cx="502920" cy="932688"/>
          </a:xfrm>
          <a:prstGeom prst="roundRect">
            <a:avLst>
              <a:gd name="adj" fmla="val 14545"/>
            </a:avLst>
          </a:prstGeom>
          <a:solidFill>
            <a:srgbClr val="2E6DA4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521208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53218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&amp; Knowledge Architecture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57332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5212080"/>
            <a:ext cx="777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100584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EBF4F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1005840"/>
            <a:ext cx="502920" cy="932688"/>
          </a:xfrm>
          <a:prstGeom prst="roundRect">
            <a:avLst>
              <a:gd name="adj" fmla="val 14545"/>
            </a:avLst>
          </a:prstGeom>
          <a:solidFill>
            <a:srgbClr val="2E6DA4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100584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11155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(MCP)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0" y="15270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881360" y="1005840"/>
            <a:ext cx="777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205740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EBF4F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2057400"/>
            <a:ext cx="502920" cy="932688"/>
          </a:xfrm>
          <a:prstGeom prst="roundRect">
            <a:avLst>
              <a:gd name="adj" fmla="val 14545"/>
            </a:avLst>
          </a:prstGeom>
          <a:solidFill>
            <a:srgbClr val="2E6DA4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0" y="205740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58000" y="21671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&amp; Dev Toolchains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58000" y="2578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hrs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881360" y="2057400"/>
            <a:ext cx="777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hrs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17920" y="310896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EBF4F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17920" y="3108960"/>
            <a:ext cx="502920" cy="932688"/>
          </a:xfrm>
          <a:prstGeom prst="roundRect">
            <a:avLst>
              <a:gd name="adj" fmla="val 14545"/>
            </a:avLst>
          </a:prstGeom>
          <a:solidFill>
            <a:srgbClr val="2E6DA4"/>
          </a:solidFill>
          <a:ln/>
        </p:spPr>
      </p:sp>
      <p:sp>
        <p:nvSpPr>
          <p:cNvPr id="49" name="Text 47"/>
          <p:cNvSpPr/>
          <p:nvPr/>
        </p:nvSpPr>
        <p:spPr>
          <a:xfrm>
            <a:off x="6217920" y="310896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58000" y="32186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Systems Architecture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858000" y="3630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hrs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881360" y="3108960"/>
            <a:ext cx="777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hrs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17920" y="416052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217920" y="4160520"/>
            <a:ext cx="502920" cy="932688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55" name="Text 53"/>
          <p:cNvSpPr/>
          <p:nvPr/>
        </p:nvSpPr>
        <p:spPr>
          <a:xfrm>
            <a:off x="6217920" y="416052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858000" y="42702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Integration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858000" y="46817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hrs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881360" y="4160520"/>
            <a:ext cx="777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hrs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217920" y="521208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4A0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be able to do as a Claude Certified Architect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691640"/>
            <a:ext cx="868680" cy="8686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91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9659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enterprise-grade AI systems using Claude, agentic pipelines, and multi-model orchestration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90088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3264408"/>
            <a:ext cx="868680" cy="8686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2644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1272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53872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production RAG systems, MCP servers, agentic workflows, and Claude Code integrations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562856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4837176"/>
            <a:ext cx="868680" cy="8686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837176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47000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5111496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rigorous prompt evaluation, model grading, and benchmark-driven quality assurance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41732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1691640"/>
            <a:ext cx="868680" cy="8686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691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5236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52360" y="19659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Claude to enterprise toolchains via the API, MCP, Claude Code, and M365 extensions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2990088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46520" y="3264408"/>
            <a:ext cx="868680" cy="8686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2644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52360" y="31272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52360" y="353872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Anthropic safety principles, responsible AI policies, and enterprise compliance controls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4562856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46520" y="4837176"/>
            <a:ext cx="868680" cy="8686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837176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52360" y="47000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52360" y="5111496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Claude adoption across cross-functional teams with training, skills, and plugins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Track  |  Modules 1–3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Fluency · Platform Mastery · Prompt Engineering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657600" cy="5577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657600" cy="658368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960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2344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Fluency Foundations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76479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171907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4D Framework for AI Fluency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58775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87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254203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Fundamentals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41071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410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336499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Prompting Techniques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23367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233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418795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Discernment &amp; the Description Loop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505663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5056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501091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 in AI use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914400"/>
            <a:ext cx="3657600" cy="5577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914400"/>
            <a:ext cx="3657600" cy="658368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462272" y="960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62272" y="12344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Platform Mastery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26280" y="176479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171907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Chat, Cowork &amp; Code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6280" y="258775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2587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254203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Projects, Artifacts &amp; Skills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26280" y="341071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3410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336499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Search &amp; Research Mode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26280" y="423367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40" name="Text 38"/>
          <p:cNvSpPr/>
          <p:nvPr/>
        </p:nvSpPr>
        <p:spPr>
          <a:xfrm>
            <a:off x="4526280" y="4233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418795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Cowork: Plugins &amp; Context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26280" y="505663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43" name="Text 41"/>
          <p:cNvSpPr/>
          <p:nvPr/>
        </p:nvSpPr>
        <p:spPr>
          <a:xfrm>
            <a:off x="4526280" y="5056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501091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&amp; Microsoft 365 Integration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29600" y="914400"/>
            <a:ext cx="3657600" cy="5577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29600" y="914400"/>
            <a:ext cx="3657600" cy="658368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/>
        </p:spPr>
      </p:sp>
      <p:sp>
        <p:nvSpPr>
          <p:cNvPr id="47" name="Text 45"/>
          <p:cNvSpPr/>
          <p:nvPr/>
        </p:nvSpPr>
        <p:spPr>
          <a:xfrm>
            <a:off x="8394192" y="960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60704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94192" y="12344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&amp; Evaluation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458200" y="176479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51" name="Text 49"/>
          <p:cNvSpPr/>
          <p:nvPr/>
        </p:nvSpPr>
        <p:spPr>
          <a:xfrm>
            <a:off x="8458200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823960" y="171907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Clarity, XML Tags &amp; Few-shot Design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458200" y="258775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54" name="Text 52"/>
          <p:cNvSpPr/>
          <p:nvPr/>
        </p:nvSpPr>
        <p:spPr>
          <a:xfrm>
            <a:off x="8458200" y="2587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823960" y="254203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Prompts &amp; Chain-of-Thought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458200" y="341071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57" name="Text 55"/>
          <p:cNvSpPr/>
          <p:nvPr/>
        </p:nvSpPr>
        <p:spPr>
          <a:xfrm>
            <a:off x="8458200" y="3410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823960" y="336499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&amp; JSON Outputs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458200" y="423367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60" name="Text 58"/>
          <p:cNvSpPr/>
          <p:nvPr/>
        </p:nvSpPr>
        <p:spPr>
          <a:xfrm>
            <a:off x="8458200" y="4233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823960" y="418795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Workflows &amp; Test Datasets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458200" y="505663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63" name="Text 61"/>
          <p:cNvSpPr/>
          <p:nvPr/>
        </p:nvSpPr>
        <p:spPr>
          <a:xfrm>
            <a:off x="8458200" y="5056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823960" y="501091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Model-Based &amp; Code-Based Grading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Track  |  Modules 4–5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· RAG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858000" cy="55778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858000" cy="640080"/>
          </a:xfrm>
          <a:prstGeom prst="roundRect">
            <a:avLst>
              <a:gd name="adj" fmla="val 17143"/>
            </a:avLst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the Claude 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EBF4F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019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Architecture &amp; Authentication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2677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Models, endpoints, API keys, SDK usage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EBF4F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992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Conversations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3649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windows, conversation state management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EBF4F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965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 &amp; Function Calling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4622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Schemas, message blocks, multi-tool patterns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EBF4F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1937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Thinking &amp; Multimodal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5595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reasoning, image &amp; PDF support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182880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EBF4FD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19019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 &amp; Files 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51960" y="22677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optimisation, file handling, citations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0" y="292608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EBF4FD"/>
          </a:solidFill>
          <a:ln/>
        </p:spPr>
      </p:sp>
      <p:sp>
        <p:nvSpPr>
          <p:cNvPr id="26" name="Text 24"/>
          <p:cNvSpPr/>
          <p:nvPr/>
        </p:nvSpPr>
        <p:spPr>
          <a:xfrm>
            <a:off x="4251960" y="29992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Management at Scale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51960" y="33649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strategies, chunking, production patterns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0" y="402336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EBF4FD"/>
          </a:solidFill>
          <a:ln/>
        </p:spPr>
      </p:sp>
      <p:sp>
        <p:nvSpPr>
          <p:cNvPr id="29" name="Text 27"/>
          <p:cNvSpPr/>
          <p:nvPr/>
        </p:nvSpPr>
        <p:spPr>
          <a:xfrm>
            <a:off x="4251960" y="40965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Execution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51960" y="44622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blocks, sandboxes, automated execution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0" y="512064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EBF4FD"/>
          </a:solidFill>
          <a:ln/>
        </p:spPr>
      </p:sp>
      <p:sp>
        <p:nvSpPr>
          <p:cNvPr id="32" name="Text 30"/>
          <p:cNvSpPr/>
          <p:nvPr/>
        </p:nvSpPr>
        <p:spPr>
          <a:xfrm>
            <a:off x="4251960" y="51937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&amp; Temperature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51960" y="55595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streaming, creativity control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98080" y="960120"/>
            <a:ext cx="4297680" cy="5577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0" y="960120"/>
            <a:ext cx="4297680" cy="640080"/>
          </a:xfrm>
          <a:prstGeom prst="roundRect">
            <a:avLst>
              <a:gd name="adj" fmla="val 17143"/>
            </a:avLst>
          </a:prstGeom>
          <a:solidFill>
            <a:srgbClr val="1B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01200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80960" y="12984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&amp; Knowledge Architecture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680960" y="1828800"/>
            <a:ext cx="3931920" cy="822960"/>
          </a:xfrm>
          <a:prstGeom prst="roundRect">
            <a:avLst>
              <a:gd name="adj" fmla="val 7778"/>
            </a:avLst>
          </a:prstGeom>
          <a:solidFill>
            <a:srgbClr val="EBF4FD"/>
          </a:solidFill>
          <a:ln/>
        </p:spPr>
      </p:sp>
      <p:sp>
        <p:nvSpPr>
          <p:cNvPr id="40" name="Text 38"/>
          <p:cNvSpPr/>
          <p:nvPr/>
        </p:nvSpPr>
        <p:spPr>
          <a:xfrm>
            <a:off x="7863840" y="18836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Fundamentals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863840" y="22311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Introduction, full flow design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680960" y="2779776"/>
            <a:ext cx="3931920" cy="822960"/>
          </a:xfrm>
          <a:prstGeom prst="roundRect">
            <a:avLst>
              <a:gd name="adj" fmla="val 7778"/>
            </a:avLst>
          </a:prstGeom>
          <a:solidFill>
            <a:srgbClr val="EBF4FD"/>
          </a:solidFill>
          <a:ln/>
        </p:spPr>
      </p:sp>
      <p:sp>
        <p:nvSpPr>
          <p:cNvPr id="43" name="Text 41"/>
          <p:cNvSpPr/>
          <p:nvPr/>
        </p:nvSpPr>
        <p:spPr>
          <a:xfrm>
            <a:off x="786384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Chunking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63840" y="3182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production systems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680960" y="3730752"/>
            <a:ext cx="3931920" cy="822960"/>
          </a:xfrm>
          <a:prstGeom prst="roundRect">
            <a:avLst>
              <a:gd name="adj" fmla="val 7778"/>
            </a:avLst>
          </a:prstGeom>
          <a:solidFill>
            <a:srgbClr val="EBF4FD"/>
          </a:solidFill>
          <a:ln/>
        </p:spPr>
      </p:sp>
      <p:sp>
        <p:nvSpPr>
          <p:cNvPr id="46" name="Text 44"/>
          <p:cNvSpPr/>
          <p:nvPr/>
        </p:nvSpPr>
        <p:spPr>
          <a:xfrm>
            <a:off x="7863840" y="3785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&amp; Vector Search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863840" y="4133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retrieval pipelines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80960" y="4681728"/>
            <a:ext cx="3931920" cy="822960"/>
          </a:xfrm>
          <a:prstGeom prst="roundRect">
            <a:avLst>
              <a:gd name="adj" fmla="val 7778"/>
            </a:avLst>
          </a:prstGeom>
          <a:solidFill>
            <a:srgbClr val="EBF4FD"/>
          </a:solidFill>
          <a:ln/>
        </p:spPr>
      </p:sp>
      <p:sp>
        <p:nvSpPr>
          <p:cNvPr id="49" name="Text 47"/>
          <p:cNvSpPr/>
          <p:nvPr/>
        </p:nvSpPr>
        <p:spPr>
          <a:xfrm>
            <a:off x="7863840" y="47365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Lexical Search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863840" y="50840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Keyword-based retrieval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680960" y="5632704"/>
            <a:ext cx="3931920" cy="822960"/>
          </a:xfrm>
          <a:prstGeom prst="roundRect">
            <a:avLst>
              <a:gd name="adj" fmla="val 7778"/>
            </a:avLst>
          </a:prstGeom>
          <a:solidFill>
            <a:srgbClr val="EBF4FD"/>
          </a:solidFill>
          <a:ln/>
        </p:spPr>
      </p:sp>
      <p:sp>
        <p:nvSpPr>
          <p:cNvPr id="52" name="Text 50"/>
          <p:cNvSpPr/>
          <p:nvPr/>
        </p:nvSpPr>
        <p:spPr>
          <a:xfrm>
            <a:off x="7863840" y="56875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Multi-Index Pipelines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863840" y="6035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 capstone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Track  |  Modules 6–7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Claude Code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852160" cy="55778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852160" cy="621792"/>
          </a:xfrm>
          <a:prstGeom prst="roundRect">
            <a:avLst>
              <a:gd name="adj" fmla="val 17647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2618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(MCP)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73736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EBF4FD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920240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Architecture: Servers, Clients &amp; Transports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532888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2715768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15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26700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Tools &amp; the Server Inspector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328416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EBF4F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511296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11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88720" y="34655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MCP Clients &amp; Resources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123944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306824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306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88720" y="42611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in MCP &amp; JSON Message Types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4919472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EBF4FD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102352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102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88720" y="5056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StreamableHTTP Transport &amp; State Management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571500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5897880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897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88720" y="5852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Sampling, Logging &amp; Notifications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0" y="960120"/>
            <a:ext cx="5852160" cy="55778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960120"/>
            <a:ext cx="5852160" cy="621792"/>
          </a:xfrm>
          <a:prstGeom prst="roundRect">
            <a:avLst>
              <a:gd name="adj" fmla="val 17647"/>
            </a:avLst>
          </a:prstGeom>
          <a:solidFill>
            <a:srgbClr val="1B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1005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149840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0" y="12618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&amp; Developer Toolchains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720840" y="173736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EBF4FD"/>
          </a:solidFill>
          <a:ln/>
        </p:spPr>
      </p:sp>
      <p:sp>
        <p:nvSpPr>
          <p:cNvPr id="40" name="Shape 38"/>
          <p:cNvSpPr/>
          <p:nvPr/>
        </p:nvSpPr>
        <p:spPr>
          <a:xfrm>
            <a:off x="6903720" y="1920240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41" name="Text 39"/>
          <p:cNvSpPr/>
          <p:nvPr/>
        </p:nvSpPr>
        <p:spPr>
          <a:xfrm>
            <a:off x="690372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&amp; First Prompt Workflow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720840" y="2532888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903720" y="2715768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45" name="Text 43"/>
          <p:cNvSpPr/>
          <p:nvPr/>
        </p:nvSpPr>
        <p:spPr>
          <a:xfrm>
            <a:off x="6903720" y="2715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0" y="26700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→ Plan → Code → Commit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20840" y="3328416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EBF4FD"/>
          </a:solidFill>
          <a:ln/>
        </p:spPr>
      </p:sp>
      <p:sp>
        <p:nvSpPr>
          <p:cNvPr id="48" name="Shape 46"/>
          <p:cNvSpPr/>
          <p:nvPr/>
        </p:nvSpPr>
        <p:spPr>
          <a:xfrm>
            <a:off x="6903720" y="3511296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49" name="Text 47"/>
          <p:cNvSpPr/>
          <p:nvPr/>
        </p:nvSpPr>
        <p:spPr>
          <a:xfrm>
            <a:off x="6903720" y="3511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0" y="34655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CLAUDE.md, Context &amp; Code Review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720840" y="4123944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903720" y="4306824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53" name="Text 51"/>
          <p:cNvSpPr/>
          <p:nvPr/>
        </p:nvSpPr>
        <p:spPr>
          <a:xfrm>
            <a:off x="6903720" y="4306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15200" y="42611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Subagents: Design &amp; Effective Use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720840" y="4919472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EBF4FD"/>
          </a:solidFill>
          <a:ln/>
        </p:spPr>
      </p:sp>
      <p:sp>
        <p:nvSpPr>
          <p:cNvPr id="56" name="Shape 54"/>
          <p:cNvSpPr/>
          <p:nvPr/>
        </p:nvSpPr>
        <p:spPr>
          <a:xfrm>
            <a:off x="6903720" y="5102352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57" name="Text 55"/>
          <p:cNvSpPr/>
          <p:nvPr/>
        </p:nvSpPr>
        <p:spPr>
          <a:xfrm>
            <a:off x="6903720" y="5102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15200" y="5056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MCP Servers &amp; GitHub Integration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720840" y="571500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903720" y="5897880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61" name="Text 59"/>
          <p:cNvSpPr/>
          <p:nvPr/>
        </p:nvSpPr>
        <p:spPr>
          <a:xfrm>
            <a:off x="6903720" y="5897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315200" y="5852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Hooks, SDK &amp; Custom Commands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4A0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08 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Systems &amp;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B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build, and orchestrate multi-step AI workflows and autonomous agent systems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2496312"/>
            <a:ext cx="640080" cy="6400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2496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4231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7889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thinking, environment inspection &amp; the core loop pattern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410712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3575304"/>
            <a:ext cx="640080" cy="6400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35753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50215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86791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task execution and parallel workflow design patterns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489704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4654296"/>
            <a:ext cx="640080" cy="6400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46542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58114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Chaining Workflows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94690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multi-step pipelines with state handoff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5568696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30352" y="5733288"/>
            <a:ext cx="640080" cy="6400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5733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566013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Workflows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25880" y="602589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routing and decision trees for dynamic flows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233172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82512" y="2496312"/>
            <a:ext cx="640080" cy="6400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28" name="Text 26"/>
          <p:cNvSpPr/>
          <p:nvPr/>
        </p:nvSpPr>
        <p:spPr>
          <a:xfrm>
            <a:off x="6382512" y="2496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24231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78040" y="27889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decomposition, subagent creation and coordination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3410712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82512" y="3575304"/>
            <a:ext cx="640080" cy="6400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82512" y="35753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🛠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78040" y="350215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Agents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78040" y="386791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Developer Platform and building managed agent systems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4489704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82512" y="4654296"/>
            <a:ext cx="640080" cy="6400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38" name="Text 36"/>
          <p:cNvSpPr/>
          <p:nvPr/>
        </p:nvSpPr>
        <p:spPr>
          <a:xfrm>
            <a:off x="6382512" y="46542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78040" y="458114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Framework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78040" y="494690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vs Agents: when to use each pattern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17920" y="5568696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82512" y="5733288"/>
            <a:ext cx="640080" cy="64008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43" name="Text 41"/>
          <p:cNvSpPr/>
          <p:nvPr/>
        </p:nvSpPr>
        <p:spPr>
          <a:xfrm>
            <a:off x="6382512" y="5733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78040" y="566013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Tools, Skills &amp; MCP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78040" y="602589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tools and MCP in agentic contexts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|  Module 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· Certification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577840" cy="55778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577840" cy="621792"/>
          </a:xfrm>
          <a:prstGeom prst="roundRect">
            <a:avLst>
              <a:gd name="adj" fmla="val 17647"/>
            </a:avLst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09  ·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Integration &amp; Deployment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212080" cy="804672"/>
          </a:xfrm>
          <a:prstGeom prst="roundRect">
            <a:avLst>
              <a:gd name="adj" fmla="val 7955"/>
            </a:avLst>
          </a:prstGeom>
          <a:solidFill>
            <a:srgbClr val="EBF4F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84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DA4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94767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Claude model for each use case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212080" cy="804672"/>
          </a:xfrm>
          <a:prstGeom prst="roundRect">
            <a:avLst>
              <a:gd name="adj" fmla="val 7955"/>
            </a:avLst>
          </a:prstGeom>
          <a:solidFill>
            <a:srgbClr val="EBF4F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DA4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90779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in action: use cases across business roles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212080" cy="804672"/>
          </a:xfrm>
          <a:prstGeom prst="roundRect">
            <a:avLst>
              <a:gd name="adj" fmla="val 7955"/>
            </a:avLst>
          </a:prstGeom>
          <a:solidFill>
            <a:srgbClr val="EBF4F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04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DA4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86791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Search &amp; knowledge management at scale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5212080" cy="804672"/>
          </a:xfrm>
          <a:prstGeom prst="roundRect">
            <a:avLst>
              <a:gd name="adj" fmla="val 7955"/>
            </a:avLst>
          </a:prstGeom>
          <a:solidFill>
            <a:srgbClr val="EBF4F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64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DA4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82803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best practices &amp; validating skills for plugins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5212080" cy="804672"/>
          </a:xfrm>
          <a:prstGeom prst="roundRect">
            <a:avLst>
              <a:gd name="adj" fmla="val 7955"/>
            </a:avLst>
          </a:prstGeom>
          <a:solidFill>
            <a:srgbClr val="EBF4F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824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DA4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578815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sharing, role-based access &amp; AI governance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1737360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1810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21762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a full multi-agent enterprise AI system from requirements to blueprint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1200" y="288950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hrs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15200" y="325526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and defend your architecture to peers and evaluators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46520" y="3895344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601200" y="39684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hrs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15200" y="433425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exam + practical component covering all 10 domains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46520" y="4974336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601200" y="50474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hrs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315200" y="54132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Debrief, feedback session &amp; official CCA credential award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&amp; Certification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Mark: 75%  ·  Retake: after 14 days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14300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640080" cy="1005840"/>
          </a:xfrm>
          <a:prstGeom prst="roundRect">
            <a:avLst>
              <a:gd name="adj" fmla="val 12857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Quizzes (x10)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51790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End-of-module knowledge checks across all domains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149840" y="118872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10149840" y="11887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114300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03120"/>
            <a:ext cx="640080" cy="1005840"/>
          </a:xfrm>
          <a:prstGeom prst="roundRect">
            <a:avLst>
              <a:gd name="adj" fmla="val 12857"/>
            </a:avLst>
          </a:prstGeom>
          <a:solidFill>
            <a:srgbClr val="2E6DA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031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212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Portfolio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6334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hands-on lab exercises reviewed by instructors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149840" y="2304288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2E6DA4"/>
          </a:solidFill>
          <a:ln/>
        </p:spPr>
      </p:sp>
      <p:sp>
        <p:nvSpPr>
          <p:cNvPr id="18" name="Text 16"/>
          <p:cNvSpPr/>
          <p:nvPr/>
        </p:nvSpPr>
        <p:spPr>
          <a:xfrm>
            <a:off x="10149840" y="230428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5760" y="3218688"/>
            <a:ext cx="114300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18688"/>
            <a:ext cx="640080" cy="1005840"/>
          </a:xfrm>
          <a:prstGeom prst="roundRect">
            <a:avLst>
              <a:gd name="adj" fmla="val 12857"/>
            </a:avLst>
          </a:prstGeom>
          <a:solidFill>
            <a:srgbClr val="1A527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18688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3284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&amp; API Project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749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production RAG pipeline on the Claude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49840" y="3419856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A5276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9840" y="3419856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65760" y="4334256"/>
            <a:ext cx="114300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334256"/>
            <a:ext cx="640080" cy="1005840"/>
          </a:xfrm>
          <a:prstGeom prst="roundRect">
            <a:avLst>
              <a:gd name="adj" fmla="val 12857"/>
            </a:avLst>
          </a:prstGeom>
          <a:solidFill>
            <a:srgbClr val="15436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334256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88720" y="44439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Architecture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48646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 design and full implementation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149840" y="4535424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54360"/>
          </a:solidFill>
          <a:ln/>
        </p:spPr>
      </p:sp>
      <p:sp>
        <p:nvSpPr>
          <p:cNvPr id="32" name="Text 30"/>
          <p:cNvSpPr/>
          <p:nvPr/>
        </p:nvSpPr>
        <p:spPr>
          <a:xfrm>
            <a:off x="10149840" y="4535424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65760" y="5449824"/>
            <a:ext cx="114300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5449824"/>
            <a:ext cx="640080" cy="1005840"/>
          </a:xfrm>
          <a:prstGeom prst="roundRect">
            <a:avLst>
              <a:gd name="adj" fmla="val 12857"/>
            </a:avLst>
          </a:prstGeom>
          <a:solidFill>
            <a:srgbClr val="0D2D3E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5449824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88720" y="55595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Written Exam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88720" y="598017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90-minute proctored exam covering all 10 domains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149840" y="5650992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D2D3E"/>
          </a:solidFill>
          <a:ln/>
        </p:spPr>
      </p:sp>
      <p:sp>
        <p:nvSpPr>
          <p:cNvPr id="39" name="Text 37"/>
          <p:cNvSpPr/>
          <p:nvPr/>
        </p:nvSpPr>
        <p:spPr>
          <a:xfrm>
            <a:off x="10149840" y="565099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4A0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F4A024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6400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Become 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Certified Architect?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25880" y="2514600"/>
            <a:ext cx="1371600" cy="137160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514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40416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49884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at learn.anthropic.com and activate your API credits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69080" y="2514600"/>
            <a:ext cx="1371600" cy="137160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2514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40416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449884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through 10 modules at your own pace with lab support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12280" y="2514600"/>
            <a:ext cx="1371600" cy="137160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514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40416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449884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3 major projects to demonstrate real-world competency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55480" y="2514600"/>
            <a:ext cx="1371600" cy="1371600"/>
          </a:xfrm>
          <a:prstGeom prst="ellipse">
            <a:avLst/>
          </a:prstGeom>
          <a:solidFill>
            <a:srgbClr val="F4A024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480" y="2514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052560" y="40416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0" y="449884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the final assessment and earn your CCA credential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94760" y="5486400"/>
            <a:ext cx="4572000" cy="731520"/>
          </a:xfrm>
          <a:prstGeom prst="roundRect">
            <a:avLst>
              <a:gd name="adj" fmla="val 18750"/>
            </a:avLst>
          </a:prstGeom>
          <a:solidFill>
            <a:srgbClr val="F4A024"/>
          </a:solidFill>
          <a:ln/>
        </p:spPr>
      </p:sp>
      <p:sp>
        <p:nvSpPr>
          <p:cNvPr id="23" name="Text 21"/>
          <p:cNvSpPr/>
          <p:nvPr/>
        </p:nvSpPr>
        <p:spPr>
          <a:xfrm>
            <a:off x="3794760" y="5486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learn.anthropic.com / certifications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Professional Training  ·  Claude Certified Architect  ·  v2.0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23235</TotalTime>
  <Words>985</Words>
  <Application>Microsoft Office PowerPoint</Application>
  <PresentationFormat>Widescreen</PresentationFormat>
  <Paragraphs>275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Certified Architect – Course Syllabus</dc:title>
  <dc:subject>PptxGenJS Presentation</dc:subject>
  <dc:creator>PptxGenJS</dc:creator>
  <cp:lastModifiedBy>Umapathy Boopathy</cp:lastModifiedBy>
  <cp:revision>4</cp:revision>
  <dcterms:created xsi:type="dcterms:W3CDTF">2026-06-26T13:30:51Z</dcterms:created>
  <dcterms:modified xsi:type="dcterms:W3CDTF">2026-07-12T16:51:20Z</dcterms:modified>
</cp:coreProperties>
</file>