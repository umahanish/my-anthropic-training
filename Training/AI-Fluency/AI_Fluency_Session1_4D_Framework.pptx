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image" Target="../media/image-11-1.png"/><Relationship Id="rId6" Type="http://schemas.openxmlformats.org/officeDocument/2006/relationships/image" Target="../media/image-11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image" Target="../media/image-12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1.png"/><Relationship Id="rId3" Type="http://schemas.openxmlformats.org/officeDocument/2006/relationships/image" Target="../media/image-21-1.png"/><Relationship Id="rId4" Type="http://schemas.openxmlformats.org/officeDocument/2006/relationships/image" Target="../media/image-21-1.png"/><Relationship Id="rId5" Type="http://schemas.openxmlformats.org/officeDocument/2006/relationships/image" Target="../media/image-21-1.png"/><Relationship Id="rId6" Type="http://schemas.openxmlformats.org/officeDocument/2006/relationships/image" Target="../media/image-21-1.png"/><Relationship Id="rId7" Type="http://schemas.openxmlformats.org/officeDocument/2006/relationships/image" Target="../media/image-21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6596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FLUENCY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306324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4D Framework for IT Professionals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36118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100" kern="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  ·   Description   ·   Discernment   ·   Diligence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512668" y="4320540"/>
            <a:ext cx="777240" cy="777240"/>
          </a:xfrm>
          <a:prstGeom prst="ellipse">
            <a:avLst/>
          </a:prstGeom>
          <a:solidFill>
            <a:srgbClr val="212A5C"/>
          </a:solidFill>
          <a:ln/>
        </p:spPr>
      </p:sp>
      <p:pic>
        <p:nvPicPr>
          <p:cNvPr id="6" name="Image 0" descr="/home/claude/pptx_build/icons/deleg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6978" y="4514850"/>
            <a:ext cx="388620" cy="3886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512668" y="4320540"/>
            <a:ext cx="777240" cy="777240"/>
          </a:xfrm>
          <a:prstGeom prst="ellipse">
            <a:avLst/>
          </a:prstGeom>
          <a:ln w="19050">
            <a:solidFill>
              <a:srgbClr val="00C9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169768" y="5166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75708" y="4320540"/>
            <a:ext cx="777240" cy="777240"/>
          </a:xfrm>
          <a:prstGeom prst="ellipse">
            <a:avLst/>
          </a:prstGeom>
          <a:solidFill>
            <a:srgbClr val="212A5C"/>
          </a:solidFill>
          <a:ln/>
        </p:spPr>
      </p:sp>
      <p:pic>
        <p:nvPicPr>
          <p:cNvPr id="10" name="Image 1" descr="/home/claude/pptx_build/icons/descrip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018" y="4514850"/>
            <a:ext cx="388620" cy="3886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975708" y="4320540"/>
            <a:ext cx="777240" cy="777240"/>
          </a:xfrm>
          <a:prstGeom prst="ellipse">
            <a:avLst/>
          </a:prstGeom>
          <a:ln w="19050">
            <a:solidFill>
              <a:srgbClr val="00C9A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32808" y="5166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38748" y="4320540"/>
            <a:ext cx="777240" cy="777240"/>
          </a:xfrm>
          <a:prstGeom prst="ellipse">
            <a:avLst/>
          </a:prstGeom>
          <a:solidFill>
            <a:srgbClr val="212A5C"/>
          </a:solidFill>
          <a:ln/>
        </p:spPr>
      </p:sp>
      <p:pic>
        <p:nvPicPr>
          <p:cNvPr id="14" name="Image 2" descr="/home/claude/pptx_build/icons/discern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058" y="4514850"/>
            <a:ext cx="388620" cy="3886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438748" y="4320540"/>
            <a:ext cx="777240" cy="777240"/>
          </a:xfrm>
          <a:prstGeom prst="ellipse">
            <a:avLst/>
          </a:prstGeom>
          <a:ln w="19050">
            <a:solidFill>
              <a:srgbClr val="00C9A7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095848" y="5166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Discernment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901788" y="4320540"/>
            <a:ext cx="777240" cy="777240"/>
          </a:xfrm>
          <a:prstGeom prst="ellipse">
            <a:avLst/>
          </a:prstGeom>
          <a:solidFill>
            <a:srgbClr val="212A5C"/>
          </a:solidFill>
          <a:ln/>
        </p:spPr>
      </p:sp>
      <p:pic>
        <p:nvPicPr>
          <p:cNvPr id="18" name="Image 3" descr="/home/claude/pptx_build/icons/dilige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098" y="4514850"/>
            <a:ext cx="388620" cy="3886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901788" y="4320540"/>
            <a:ext cx="777240" cy="777240"/>
          </a:xfrm>
          <a:prstGeom prst="ellipse">
            <a:avLst/>
          </a:prstGeom>
          <a:ln w="19050">
            <a:solidFill>
              <a:srgbClr val="00C9A7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558888" y="5166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7A8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FOR DEVELOPERS, SOLUTION ARCHITECTS &amp; SYSTEM ARCHITECTS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Journey Through the 4Ds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508760" y="2606040"/>
            <a:ext cx="9144000" cy="0"/>
          </a:xfrm>
          <a:prstGeom prst="line">
            <a:avLst/>
          </a:prstGeom>
          <a:noFill/>
          <a:ln w="25400">
            <a:solidFill>
              <a:srgbClr val="D6D9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" y="2125980"/>
            <a:ext cx="960120" cy="960120"/>
          </a:xfrm>
          <a:prstGeom prst="ellipse">
            <a:avLst/>
          </a:prstGeom>
          <a:solidFill>
            <a:srgbClr val="141B41"/>
          </a:solidFill>
          <a:ln/>
        </p:spPr>
      </p:sp>
      <p:pic>
        <p:nvPicPr>
          <p:cNvPr id="6" name="Image 0" descr="/home/claude/pptx_build/icon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730" y="2366010"/>
            <a:ext cx="480060" cy="4800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01368" y="2039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32278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Fluency?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14700" y="2125980"/>
            <a:ext cx="960120" cy="96012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10" name="Image 1" descr="/home/claude/pptx_build/icons/da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730" y="2366010"/>
            <a:ext cx="480060" cy="4800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87368" y="2039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2788920" y="32278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600700" y="2125980"/>
            <a:ext cx="960120" cy="960120"/>
          </a:xfrm>
          <a:prstGeom prst="ellipse">
            <a:avLst/>
          </a:prstGeom>
          <a:solidFill>
            <a:srgbClr val="141B41"/>
          </a:solidFill>
          <a:ln/>
        </p:spPr>
      </p:sp>
      <p:pic>
        <p:nvPicPr>
          <p:cNvPr id="14" name="Image 2" descr="/home/claude/pptx_build/icons/descrip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0730" y="2366010"/>
            <a:ext cx="480060" cy="4800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73368" y="2039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074920" y="32278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886700" y="2125980"/>
            <a:ext cx="960120" cy="96012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18" name="Image 3" descr="/home/claude/pptx_build/icons/discernm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730" y="2366010"/>
            <a:ext cx="480060" cy="4800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59368" y="2039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7360920" y="32278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Discernment: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10172700" y="2125980"/>
            <a:ext cx="960120" cy="960120"/>
          </a:xfrm>
          <a:prstGeom prst="ellipse">
            <a:avLst/>
          </a:prstGeom>
          <a:solidFill>
            <a:srgbClr val="141B41"/>
          </a:solidFill>
          <a:ln/>
        </p:spPr>
      </p:sp>
      <p:pic>
        <p:nvPicPr>
          <p:cNvPr id="22" name="Image 4" descr="/home/claude/pptx_build/icons/lo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2730" y="2366010"/>
            <a:ext cx="480060" cy="4800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945368" y="2039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9646920" y="32278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3566160" y="4892040"/>
            <a:ext cx="5029200" cy="777240"/>
          </a:xfrm>
          <a:prstGeom prst="roundRect">
            <a:avLst>
              <a:gd name="adj" fmla="val 10588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3909060" y="5029200"/>
            <a:ext cx="502920" cy="5029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7" name="Image 5" descr="/home/claude/pptx_build/icons/la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2217" y="5142357"/>
            <a:ext cx="276606" cy="27660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572000" y="49834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Hands-On Labs. </a:t>
            </a:r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ends with a real exercise — no module is lecture-only.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 · Agenda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659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410048" y="2377440"/>
            <a:ext cx="1371600" cy="1371600"/>
          </a:xfrm>
          <a:prstGeom prst="ellipse">
            <a:avLst/>
          </a:prstGeom>
          <a:solidFill>
            <a:srgbClr val="212A5C"/>
          </a:solidFill>
          <a:ln/>
        </p:spPr>
      </p:sp>
      <p:pic>
        <p:nvPicPr>
          <p:cNvPr id="4" name="Image 0" descr="/home/claude/pptx_build/icon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6664" y="2734056"/>
            <a:ext cx="658368" cy="658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10048" y="2377440"/>
            <a:ext cx="1371600" cy="1371600"/>
          </a:xfrm>
          <a:prstGeom prst="ellipse">
            <a:avLst/>
          </a:prstGeom>
          <a:ln w="19050">
            <a:solidFill>
              <a:srgbClr val="00C9A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397764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AI Fluency?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8006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the 4D Framework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 · Module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WHY AI FLUENCY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Tool. Same Task. Different Outcome.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FFF1EC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1540" y="1714500"/>
            <a:ext cx="685800" cy="6858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6" name="Image 0" descr="/home/claude/pptx_build/icons/nightm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188595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NIGHTMARE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 pastes a stack trace into a chatbot, copies the suggested fix straight into a production hotfix, and merges it without testing — because "the AI said it would work."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48463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Delegation thought. No real Description. Zero Discernment. Zero Diligence.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36792" y="137160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E7FBF6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71132" y="1714500"/>
            <a:ext cx="685800" cy="68580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12" name="Image 1" descr="/home/claude/pptx_build/icons/d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582" y="1885950"/>
            <a:ext cx="342900" cy="342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71232" y="1783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DREAM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748272" y="27432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 describes the bug with full context, gets a candidate fix, tests it locally, asks the AI to explain why the bug occurred, verifies that against the real codebase — then merges, noting AI assistance in the PR.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748272" y="48463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Ds present: Delegated thoughtfully, Described fully, Discerned actively, Diligent at the end.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 · Module 1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WHY AI FLUENCY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4D Framework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48" y="2788920"/>
            <a:ext cx="9144" cy="1280160"/>
          </a:xfrm>
          <a:prstGeom prst="line">
            <a:avLst/>
          </a:prstGeom>
          <a:noFill/>
          <a:ln w="25400">
            <a:solidFill>
              <a:srgbClr val="D6D9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069080"/>
            <a:ext cx="1280160" cy="9144"/>
          </a:xfrm>
          <a:prstGeom prst="line">
            <a:avLst/>
          </a:prstGeom>
          <a:noFill/>
          <a:ln w="25400">
            <a:solidFill>
              <a:srgbClr val="D6D9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5848" y="4069080"/>
            <a:ext cx="9144" cy="1280160"/>
          </a:xfrm>
          <a:prstGeom prst="line">
            <a:avLst/>
          </a:prstGeom>
          <a:noFill/>
          <a:ln w="25400">
            <a:solidFill>
              <a:srgbClr val="D6D9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15688" y="4069080"/>
            <a:ext cx="1280160" cy="9144"/>
          </a:xfrm>
          <a:prstGeom prst="line">
            <a:avLst/>
          </a:prstGeom>
          <a:noFill/>
          <a:ln w="25400">
            <a:solidFill>
              <a:srgbClr val="D6D9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18608" y="3291840"/>
            <a:ext cx="1554480" cy="1554480"/>
          </a:xfrm>
          <a:prstGeom prst="ellipse">
            <a:avLst/>
          </a:prstGeom>
          <a:solidFill>
            <a:srgbClr val="141B41"/>
          </a:solidFill>
          <a:ln/>
        </p:spPr>
      </p:sp>
      <p:sp>
        <p:nvSpPr>
          <p:cNvPr id="9" name="Text 7"/>
          <p:cNvSpPr/>
          <p:nvPr/>
        </p:nvSpPr>
        <p:spPr>
          <a:xfrm>
            <a:off x="5318608" y="329184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FLUENCY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1508" y="2354580"/>
            <a:ext cx="868680" cy="86868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11" name="Image 0" descr="/home/claude/pptx_build/icons/deleg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8678" y="2571750"/>
            <a:ext cx="434340" cy="4343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90008" y="18288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998568" y="2148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hand off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941668" y="3634740"/>
            <a:ext cx="868680" cy="86868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5" name="Image 1" descr="/home/claude/pptx_build/icons/descrip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8838" y="3851910"/>
            <a:ext cx="434340" cy="4343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370168" y="46360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278728" y="494690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clearly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661508" y="4914900"/>
            <a:ext cx="868680" cy="86868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19" name="Image 2" descr="/home/claude/pptx_build/icons/discern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678" y="5132070"/>
            <a:ext cx="434340" cy="4343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90008" y="591616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Discernment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998568" y="622706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the output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381348" y="3634740"/>
            <a:ext cx="868680" cy="86868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3" name="Image 3" descr="/home/claude/pptx_build/icons/dilige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8518" y="3851910"/>
            <a:ext cx="434340" cy="4343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809848" y="46360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3718408" y="494690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result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 · Module 1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WHY AI FLUENCY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4Ds, In Your Day-to-Day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74552" cy="987552"/>
          </a:xfrm>
          <a:prstGeom prst="roundRect">
            <a:avLst>
              <a:gd name="adj" fmla="val 833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5256" y="1673352"/>
            <a:ext cx="658368" cy="658368"/>
          </a:xfrm>
          <a:prstGeom prst="ellipse">
            <a:avLst/>
          </a:prstGeom>
          <a:solidFill>
            <a:srgbClr val="141B41"/>
          </a:solidFill>
          <a:ln/>
        </p:spPr>
      </p:sp>
      <p:pic>
        <p:nvPicPr>
          <p:cNvPr id="6" name="Image 0" descr="/home/claude/pptx_build/icons/deleg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83794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61848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Delegation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206240" y="1618488"/>
            <a:ext cx="7360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 CRUD boilerplate to AI; keep security-critical auth design human-led.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7200" y="2679192"/>
            <a:ext cx="11274552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05256" y="2843784"/>
            <a:ext cx="658368" cy="658368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11" name="Image 1" descr="/home/claude/pptx_build/icons/descrip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30083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27889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206240" y="2788920"/>
            <a:ext cx="7360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AI your real error logs and schema — not a paraphrase of the problem.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57200" y="3849624"/>
            <a:ext cx="11274552" cy="987552"/>
          </a:xfrm>
          <a:prstGeom prst="roundRect">
            <a:avLst>
              <a:gd name="adj" fmla="val 833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05256" y="4014216"/>
            <a:ext cx="658368" cy="65836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6" name="Image 2" descr="/home/claude/pptx_build/icons/discern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1788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95935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Discernment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4206240" y="3959352"/>
            <a:ext cx="7360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that the AI invented a config flag that doesn’t exist in your library version.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457200" y="5020056"/>
            <a:ext cx="11274552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05256" y="5184648"/>
            <a:ext cx="658368" cy="658368"/>
          </a:xfrm>
          <a:prstGeom prst="ellipse">
            <a:avLst/>
          </a:prstGeom>
          <a:solidFill>
            <a:srgbClr val="141B41"/>
          </a:solidFill>
          <a:ln/>
        </p:spPr>
      </p:sp>
      <p:pic>
        <p:nvPicPr>
          <p:cNvPr id="21" name="Image 3" descr="/home/claude/pptx_build/icons/dilige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534924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512978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Diligence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4206240" y="5129784"/>
            <a:ext cx="7360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 AI assistance in the PR; re-verify licensing on any suggested dependency.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 · Module 1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WHY AI FLUENCY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Modes of Engagement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377440" y="2377440"/>
            <a:ext cx="7315200" cy="0"/>
          </a:xfrm>
          <a:prstGeom prst="line">
            <a:avLst/>
          </a:prstGeom>
          <a:noFill/>
          <a:ln w="25400">
            <a:solidFill>
              <a:srgbClr val="D6D9EA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874520" y="1874520"/>
            <a:ext cx="1005840" cy="100584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6" name="Image 0" descr="/home/claude/pptx_build/icons/auto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21259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358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36499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executes a well-defined, bounded task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85876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"Generate unit test stubs for this function."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532120" y="1874520"/>
            <a:ext cx="1005840" cy="1005840"/>
          </a:xfrm>
          <a:prstGeom prst="ellipse">
            <a:avLst/>
          </a:prstGeom>
          <a:solidFill>
            <a:srgbClr val="141B41"/>
          </a:solidFill>
          <a:ln/>
        </p:spPr>
      </p:sp>
      <p:pic>
        <p:nvPicPr>
          <p:cNvPr id="11" name="Image 1" descr="/home/claude/pptx_build/icons/augment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580" y="212598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0358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72000" y="336499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&amp; AI iterate as thinking partners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0" y="385876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Pair-designing an API contract together.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9189720" y="1874520"/>
            <a:ext cx="1005840" cy="100584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6" name="Image 2" descr="/home/claude/pptx_build/icons/agenc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180" y="212598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30358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9600" y="336499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 autonomously toward a goal you set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229600" y="385876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tool given a ticket, opens the PR itself.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2194560" y="18745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autonomy →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1280160" y="5623560"/>
            <a:ext cx="9628632" cy="777240"/>
          </a:xfrm>
          <a:prstGeom prst="roundRect">
            <a:avLst>
              <a:gd name="adj" fmla="val 10588"/>
            </a:avLst>
          </a:prstGeom>
          <a:solidFill>
            <a:srgbClr val="FFF1EC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1554480" y="5715000"/>
            <a:ext cx="9079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coding tools are pushing IT work toward Agency. </a:t>
            </a:r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demands MORE of all 4 Ds — not less — since you can only review the setup and the outcome.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 · Module 1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LAB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9265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Your Last AI Interaction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77195" y="388620"/>
            <a:ext cx="960120" cy="9601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5" name="Image 0" descr="/home/claude/pptx_build/icons/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7225" y="628650"/>
            <a:ext cx="480060" cy="480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54335" y="1417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11277295" cy="640080"/>
          </a:xfrm>
          <a:prstGeom prst="roundRect">
            <a:avLst>
              <a:gd name="adj" fmla="val 12857"/>
            </a:avLst>
          </a:prstGeom>
          <a:solidFill>
            <a:srgbClr val="212A5C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141732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3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4D lens to a real recent interaction — not a hypothetical one.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359152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359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2304288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the last time you used an AI tool for real work — code, docs, an email, a design doc, anything.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017520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05840" y="2962656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Delegation: Was this a good task to delegate? What did you keep for yourself, and why?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3675888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3675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05840" y="3621024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What context did you give — and what did you NOT give that the AI probably needed?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4334256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334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05840" y="4279392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Discernment: How did you check the output was correct? Be honest if the answer is "I didn’t."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4992624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992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05840" y="4937760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Diligence: Did anyone else see or use that output? Did they know AI was involved? Then pair up and share one gap you noticed.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5733288"/>
            <a:ext cx="11277295" cy="530352"/>
          </a:xfrm>
          <a:prstGeom prst="roundRect">
            <a:avLst>
              <a:gd name="adj" fmla="val 15517"/>
            </a:avLst>
          </a:prstGeom>
          <a:solidFill>
            <a:srgbClr val="232C5C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31520" y="5733288"/>
            <a:ext cx="107286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 </a:t>
            </a:r>
            <a:pPr indent="0" marL="0">
              <a:buNone/>
            </a:pPr>
            <a:r>
              <a:rPr lang="en-US" sz="1250" i="1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4 Ds is your personal weak point? Hold onto that — we return to it at the end of the day.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 · Module 1 Lab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659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410048" y="2377440"/>
            <a:ext cx="1371600" cy="1371600"/>
          </a:xfrm>
          <a:prstGeom prst="ellipse">
            <a:avLst/>
          </a:prstGeom>
          <a:solidFill>
            <a:srgbClr val="212A5C"/>
          </a:solidFill>
          <a:ln/>
        </p:spPr>
      </p:sp>
      <p:pic>
        <p:nvPicPr>
          <p:cNvPr id="4" name="Image 0" descr="/home/claude/pptx_build/icons/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6664" y="2734056"/>
            <a:ext cx="658368" cy="658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10048" y="2377440"/>
            <a:ext cx="1371600" cy="1371600"/>
          </a:xfrm>
          <a:prstGeom prst="ellipse">
            <a:avLst/>
          </a:prstGeom>
          <a:ln w="19050">
            <a:solidFill>
              <a:srgbClr val="00C9A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397764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 Fundamentals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8006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&amp; Limitations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 · Module 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AI 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These Models Actually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377440" y="2651760"/>
            <a:ext cx="7315200" cy="0"/>
          </a:xfrm>
          <a:prstGeom prst="line">
            <a:avLst/>
          </a:prstGeom>
          <a:noFill/>
          <a:ln w="25400">
            <a:solidFill>
              <a:srgbClr val="D6D9EA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874520" y="2148840"/>
            <a:ext cx="1005840" cy="1005840"/>
          </a:xfrm>
          <a:prstGeom prst="ellipse">
            <a:avLst/>
          </a:prstGeom>
          <a:solidFill>
            <a:srgbClr val="141B41"/>
          </a:solidFill>
          <a:ln/>
        </p:spPr>
      </p:sp>
      <p:pic>
        <p:nvPicPr>
          <p:cNvPr id="6" name="Image 0" descr="/home/claude/pptx_build/icons/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24003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101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Data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huge volumes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text, including code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32120" y="2148840"/>
            <a:ext cx="1005840" cy="100584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10" name="Image 1" descr="/home/claude/pptx_build/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580" y="240030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33101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Prediction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572000" y="36576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most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plausible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token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9189720" y="2148840"/>
            <a:ext cx="1005840" cy="100584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4" name="Image 2" descr="/home/claude/pptx_build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180" y="240030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29600" y="33101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Fluent Output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229600" y="36576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Confident, well-formed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— whether or not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correct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1280160" y="5394960"/>
            <a:ext cx="9628632" cy="914400"/>
          </a:xfrm>
          <a:prstGeom prst="roundRect">
            <a:avLst>
              <a:gd name="adj" fmla="val 9000"/>
            </a:avLst>
          </a:prstGeom>
          <a:solidFill>
            <a:srgbClr val="FFF1EC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1554480" y="5486400"/>
            <a:ext cx="9079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takeaway:  </a:t>
            </a:r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query a live database of facts, does NOT execute your code while "thinking," and has no built-in notion of "I don’t know." Fluency and correctness are optimized somewhat independently.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 · Module 2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AI 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It’s Genuinely Good 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88410" cy="2226564"/>
          </a:xfrm>
          <a:prstGeom prst="roundRect">
            <a:avLst>
              <a:gd name="adj" fmla="val 3696"/>
            </a:avLst>
          </a:prstGeom>
          <a:solidFill>
            <a:srgbClr val="E7FBF6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801368"/>
            <a:ext cx="658368" cy="658368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6" name="Image 0" descr="/home/claude/pptx_build/icons/cap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96596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83080"/>
            <a:ext cx="23996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Boilerplate &amp; Scaffolding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13232" y="2606040"/>
            <a:ext cx="308549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endpoints, test stubs, Dockerfiles, Terraform skeletons.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01642" y="1600200"/>
            <a:ext cx="3588410" cy="2226564"/>
          </a:xfrm>
          <a:prstGeom prst="roundRect">
            <a:avLst>
              <a:gd name="adj" fmla="val 3696"/>
            </a:avLst>
          </a:prstGeom>
          <a:solidFill>
            <a:srgbClr val="E7FBF6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39386" y="1801368"/>
            <a:ext cx="658368" cy="658368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11" name="Image 1" descr="/home/claude/pptx_build/icons/capabil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978" y="196596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7482" y="1783080"/>
            <a:ext cx="23996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Explanation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57674" y="2606040"/>
            <a:ext cx="308549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onboarding to unfamiliar codebases and legacy logic.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46085" y="1600200"/>
            <a:ext cx="3588410" cy="2226564"/>
          </a:xfrm>
          <a:prstGeom prst="roundRect">
            <a:avLst>
              <a:gd name="adj" fmla="val 3696"/>
            </a:avLst>
          </a:prstGeom>
          <a:solidFill>
            <a:srgbClr val="E7FBF6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83829" y="1801368"/>
            <a:ext cx="658368" cy="658368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16" name="Image 2" descr="/home/claude/pptx_build/icons/capabil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421" y="196596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51925" y="1783080"/>
            <a:ext cx="23996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02117" y="2606040"/>
            <a:ext cx="308549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and consistency passes across large surfaces.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4082796"/>
            <a:ext cx="3588410" cy="2226564"/>
          </a:xfrm>
          <a:prstGeom prst="roundRect">
            <a:avLst>
              <a:gd name="adj" fmla="val 3696"/>
            </a:avLst>
          </a:prstGeom>
          <a:solidFill>
            <a:srgbClr val="E7FBF6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4944" y="4283964"/>
            <a:ext cx="658368" cy="658368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21" name="Image 3" descr="/home/claude/pptx_build/icons/capabilit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44855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265676"/>
            <a:ext cx="23996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 &amp; ADRs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13232" y="5088636"/>
            <a:ext cx="308549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First-draft documentation and architecture decision records.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01642" y="4082796"/>
            <a:ext cx="3588410" cy="2226564"/>
          </a:xfrm>
          <a:prstGeom prst="roundRect">
            <a:avLst>
              <a:gd name="adj" fmla="val 3696"/>
            </a:avLst>
          </a:prstGeom>
          <a:solidFill>
            <a:srgbClr val="E7FBF6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39386" y="4283964"/>
            <a:ext cx="658368" cy="658368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26" name="Image 4" descr="/home/claude/pptx_build/icons/capabilit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978" y="4448556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7482" y="4265676"/>
            <a:ext cx="23996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Assistance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57674" y="5088636"/>
            <a:ext cx="308549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Pattern-matching against known error signatures.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46085" y="4082796"/>
            <a:ext cx="3588410" cy="2226564"/>
          </a:xfrm>
          <a:prstGeom prst="roundRect">
            <a:avLst>
              <a:gd name="adj" fmla="val 3696"/>
            </a:avLst>
          </a:prstGeom>
          <a:solidFill>
            <a:srgbClr val="E7FBF6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83829" y="4283964"/>
            <a:ext cx="658368" cy="658368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31" name="Image 5" descr="/home/claude/pptx_build/icons/capabilit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8421" y="4448556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51925" y="4265676"/>
            <a:ext cx="23996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Translation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02117" y="5088636"/>
            <a:ext cx="308549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Porting a script or service between languages/frameworks.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AI Fundamentals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AI 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Reliably Fails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88410" cy="2226564"/>
          </a:xfrm>
          <a:prstGeom prst="roundRect">
            <a:avLst>
              <a:gd name="adj" fmla="val 3696"/>
            </a:avLst>
          </a:prstGeom>
          <a:solidFill>
            <a:srgbClr val="FFF1EC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801368"/>
            <a:ext cx="658368" cy="65836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6" name="Image 0" descr="/home/claude/pptx_build/icons/limi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96596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83080"/>
            <a:ext cx="23996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Hallucinated APIs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13232" y="2606040"/>
            <a:ext cx="308549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Invents plausible packages, functions, or config flags that don’t exist.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01642" y="1600200"/>
            <a:ext cx="3588410" cy="2226564"/>
          </a:xfrm>
          <a:prstGeom prst="roundRect">
            <a:avLst>
              <a:gd name="adj" fmla="val 3696"/>
            </a:avLst>
          </a:prstGeom>
          <a:solidFill>
            <a:srgbClr val="FFF1EC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39386" y="1801368"/>
            <a:ext cx="658368" cy="65836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1" name="Image 1" descr="/home/claude/pptx_build/icons/limit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978" y="196596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7482" y="1783080"/>
            <a:ext cx="23996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Cutoff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57674" y="2606040"/>
            <a:ext cx="308549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Won’t know a library version, CVE, or API change after training.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46085" y="1600200"/>
            <a:ext cx="3588410" cy="2226564"/>
          </a:xfrm>
          <a:prstGeom prst="roundRect">
            <a:avLst>
              <a:gd name="adj" fmla="val 3696"/>
            </a:avLst>
          </a:prstGeom>
          <a:solidFill>
            <a:srgbClr val="FFF1EC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83829" y="1801368"/>
            <a:ext cx="658368" cy="65836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6" name="Image 2" descr="/home/claude/pptx_build/icons/limit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421" y="196596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51925" y="1783080"/>
            <a:ext cx="23996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Window Limits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02117" y="2606040"/>
            <a:ext cx="308549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codebases/logs can be truncated or "forgotten."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4082796"/>
            <a:ext cx="3588410" cy="2226564"/>
          </a:xfrm>
          <a:prstGeom prst="roundRect">
            <a:avLst>
              <a:gd name="adj" fmla="val 3696"/>
            </a:avLst>
          </a:prstGeom>
          <a:solidFill>
            <a:srgbClr val="FFF1EC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4944" y="4283964"/>
            <a:ext cx="658368" cy="65836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1" name="Image 3" descr="/home/claude/pptx_build/icons/limit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44855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265676"/>
            <a:ext cx="23996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Grounded Execution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13232" y="5088636"/>
            <a:ext cx="308549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ran this and it worked" may just be generated text.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01642" y="4082796"/>
            <a:ext cx="3588410" cy="2226564"/>
          </a:xfrm>
          <a:prstGeom prst="roundRect">
            <a:avLst>
              <a:gd name="adj" fmla="val 3696"/>
            </a:avLst>
          </a:prstGeom>
          <a:solidFill>
            <a:srgbClr val="FFF1EC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39386" y="4283964"/>
            <a:ext cx="658368" cy="65836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6" name="Image 4" descr="/home/claude/pptx_build/icons/limita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978" y="4448556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7482" y="4265676"/>
            <a:ext cx="23996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Bias Risk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57674" y="5088636"/>
            <a:ext cx="308549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tone gets trusted more than it has earned.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46085" y="4082796"/>
            <a:ext cx="3588410" cy="2226564"/>
          </a:xfrm>
          <a:prstGeom prst="roundRect">
            <a:avLst>
              <a:gd name="adj" fmla="val 3696"/>
            </a:avLst>
          </a:prstGeom>
          <a:solidFill>
            <a:srgbClr val="FFF1EC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83829" y="4283964"/>
            <a:ext cx="658368" cy="65836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31" name="Image 5" descr="/home/claude/pptx_build/icons/limitat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8421" y="4448556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51925" y="4265676"/>
            <a:ext cx="23996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Blind Spots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02117" y="5088636"/>
            <a:ext cx="308549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patterns can look perfectly idiomatic.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AI Fundamentals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LAB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9265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the Hallucination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77195" y="388620"/>
            <a:ext cx="960120" cy="9601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5" name="Image 0" descr="/home/claude/pptx_build/icons/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7225" y="628650"/>
            <a:ext cx="480060" cy="480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54335" y="1417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11277295" cy="640080"/>
          </a:xfrm>
          <a:prstGeom prst="roundRect">
            <a:avLst>
              <a:gd name="adj" fmla="val 12857"/>
            </a:avLst>
          </a:prstGeom>
          <a:solidFill>
            <a:srgbClr val="212A5C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141732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3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habit of verifying AI technical claims before you trust them.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359152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359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2304288"/>
            <a:ext cx="104543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pairs, take a prepared AI-generated snippet — or prompt your AI tool live for a niche integration you don’t know well.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200400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05840" y="3145536"/>
            <a:ext cx="104543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just read it — verify it against official docs, --help output, or the actual installed package source.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4041648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05840" y="3986784"/>
            <a:ext cx="104543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Time-box: 8 minutes to find at least one thing that is wrong, deprecated, or unverifiable.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4882896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882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05840" y="4828032"/>
            <a:ext cx="104543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your finding in one sentence: "The AI claimed X; the real docs say Y."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5806440"/>
            <a:ext cx="11277295" cy="457200"/>
          </a:xfrm>
          <a:prstGeom prst="roundRect">
            <a:avLst>
              <a:gd name="adj" fmla="val 18000"/>
            </a:avLst>
          </a:prstGeom>
          <a:solidFill>
            <a:srgbClr val="232C5C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31520" y="58064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 </a:t>
            </a:r>
            <a:pPr indent="0" marL="0">
              <a:buNone/>
            </a:pPr>
            <a:r>
              <a:rPr lang="en-US" sz="1250" i="1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did it take you to verify, vs. how long would it have taken to discover this in production?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 · Module 2 Lab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659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410048" y="2377440"/>
            <a:ext cx="1371600" cy="1371600"/>
          </a:xfrm>
          <a:prstGeom prst="ellipse">
            <a:avLst/>
          </a:prstGeom>
          <a:solidFill>
            <a:srgbClr val="212A5C"/>
          </a:solidFill>
          <a:ln/>
        </p:spPr>
      </p:sp>
      <p:pic>
        <p:nvPicPr>
          <p:cNvPr id="4" name="Image 0" descr="/home/claude/pptx_build/icons/descrip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6664" y="2734056"/>
            <a:ext cx="658368" cy="658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10048" y="2377440"/>
            <a:ext cx="1371600" cy="1371600"/>
          </a:xfrm>
          <a:prstGeom prst="ellipse">
            <a:avLst/>
          </a:prstGeom>
          <a:ln w="19050">
            <a:solidFill>
              <a:srgbClr val="00C9A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397764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Effective Prompting Techniques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8006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 · Module 3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DESCRIPTION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4-Part Prompt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615184" cy="4343400"/>
          </a:xfrm>
          <a:prstGeom prst="roundRect">
            <a:avLst>
              <a:gd name="adj" fmla="val 3147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6172" y="1961388"/>
            <a:ext cx="777240" cy="777240"/>
          </a:xfrm>
          <a:prstGeom prst="ellipse">
            <a:avLst/>
          </a:prstGeom>
          <a:solidFill>
            <a:srgbClr val="141B41"/>
          </a:solidFill>
          <a:ln/>
        </p:spPr>
      </p:sp>
      <p:pic>
        <p:nvPicPr>
          <p:cNvPr id="6" name="Image 0" descr="/home/claude/pptx_build/icons/go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0482" y="2155698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92608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3383280"/>
            <a:ext cx="22494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outcome you want — not just the action.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4480560"/>
            <a:ext cx="1883664" cy="0"/>
          </a:xfrm>
          <a:prstGeom prst="line">
            <a:avLst/>
          </a:prstGeom>
          <a:noFill/>
          <a:ln w="12700">
            <a:solidFill>
              <a:srgbClr val="D6D9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6177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"Reject malformed payloads with a 400 + machine-readable error."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28416" y="1691640"/>
            <a:ext cx="2615184" cy="4343400"/>
          </a:xfrm>
          <a:prstGeom prst="roundRect">
            <a:avLst>
              <a:gd name="adj" fmla="val 3147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47388" y="1961388"/>
            <a:ext cx="777240" cy="77724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13" name="Image 1" descr="/home/claude/pptx_build/icons/con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698" y="2155698"/>
            <a:ext cx="388620" cy="3886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65576" y="292608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511296" y="3383280"/>
            <a:ext cx="22494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code, schema, errors, stack, and what you’ve tried.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694176" y="4480560"/>
            <a:ext cx="1883664" cy="0"/>
          </a:xfrm>
          <a:prstGeom prst="line">
            <a:avLst/>
          </a:prstGeom>
          <a:noFill/>
          <a:ln w="12700">
            <a:solidFill>
              <a:srgbClr val="D6D9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511296" y="46177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actual stack trace — never paraphrase it.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99632" y="1691640"/>
            <a:ext cx="2615184" cy="4343400"/>
          </a:xfrm>
          <a:prstGeom prst="roundRect">
            <a:avLst>
              <a:gd name="adj" fmla="val 3147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18604" y="1961388"/>
            <a:ext cx="777240" cy="77724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0" name="Image 2" descr="/home/claude/pptx_build/icons/constrain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914" y="2155698"/>
            <a:ext cx="388620" cy="3886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36792" y="292608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382512" y="3383280"/>
            <a:ext cx="22494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guide, performance, security, what NOT to change.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565392" y="4480560"/>
            <a:ext cx="1883664" cy="0"/>
          </a:xfrm>
          <a:prstGeom prst="line">
            <a:avLst/>
          </a:prstGeom>
          <a:noFill/>
          <a:ln w="12700">
            <a:solidFill>
              <a:srgbClr val="D6D9E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382512" y="46177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not modify the public API signature."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9070848" y="1691640"/>
            <a:ext cx="2615184" cy="4343400"/>
          </a:xfrm>
          <a:prstGeom prst="roundRect">
            <a:avLst>
              <a:gd name="adj" fmla="val 3147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989820" y="1961388"/>
            <a:ext cx="777240" cy="777240"/>
          </a:xfrm>
          <a:prstGeom prst="ellipse">
            <a:avLst/>
          </a:prstGeom>
          <a:solidFill>
            <a:srgbClr val="141B41"/>
          </a:solidFill>
          <a:ln/>
        </p:spPr>
      </p:sp>
      <p:pic>
        <p:nvPicPr>
          <p:cNvPr id="27" name="Image 3" descr="/home/claude/pptx_build/icons/form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4130" y="2155698"/>
            <a:ext cx="388620" cy="3886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08008" y="292608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9253728" y="3383280"/>
            <a:ext cx="22494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want the answer structured.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9436608" y="4480560"/>
            <a:ext cx="1883664" cy="0"/>
          </a:xfrm>
          <a:prstGeom prst="line">
            <a:avLst/>
          </a:prstGeom>
          <a:noFill/>
          <a:ln w="12700">
            <a:solidFill>
              <a:srgbClr val="D6D9EA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253728" y="46177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"Return a diff, not a full file re-paste."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 · Module 3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DESCRIPTION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Techniques That Raise First-Draft Quality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88410" cy="2226564"/>
          </a:xfrm>
          <a:prstGeom prst="roundRect">
            <a:avLst>
              <a:gd name="adj" fmla="val 3696"/>
            </a:avLst>
          </a:prstGeom>
          <a:solidFill>
            <a:srgbClr val="E7FBF6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801368"/>
            <a:ext cx="658368" cy="658368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6" name="Image 0" descr="/home/claude/pptx_build/icons/ro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96596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83080"/>
            <a:ext cx="23996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Framing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13232" y="2606040"/>
            <a:ext cx="308549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"Review this as a senior security engineer would" changes the lens applied.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01642" y="1600200"/>
            <a:ext cx="3588410" cy="2226564"/>
          </a:xfrm>
          <a:prstGeom prst="roundRect">
            <a:avLst>
              <a:gd name="adj" fmla="val 3696"/>
            </a:avLst>
          </a:prstGeom>
          <a:solidFill>
            <a:srgbClr val="E7FBF6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39386" y="1801368"/>
            <a:ext cx="658368" cy="658368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11" name="Image 1" descr="/home/claude/pptx_build/icons/examp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978" y="196596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7482" y="1783080"/>
            <a:ext cx="23996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 Examples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57674" y="2606040"/>
            <a:ext cx="308549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1–2 examples of your team’s conventions to match style.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46085" y="1600200"/>
            <a:ext cx="3588410" cy="2226564"/>
          </a:xfrm>
          <a:prstGeom prst="roundRect">
            <a:avLst>
              <a:gd name="adj" fmla="val 3696"/>
            </a:avLst>
          </a:prstGeom>
          <a:solidFill>
            <a:srgbClr val="E7FBF6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83829" y="1801368"/>
            <a:ext cx="658368" cy="658368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16" name="Image 2" descr="/home/claude/pptx_build/icons/stepwi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421" y="196596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51925" y="1783080"/>
            <a:ext cx="23996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Step-by-Step Reasoning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02117" y="2606040"/>
            <a:ext cx="308549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trade-off analysis before the final answer.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4082796"/>
            <a:ext cx="3588410" cy="2226564"/>
          </a:xfrm>
          <a:prstGeom prst="roundRect">
            <a:avLst>
              <a:gd name="adj" fmla="val 3696"/>
            </a:avLst>
          </a:prstGeom>
          <a:solidFill>
            <a:srgbClr val="E7FBF6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4944" y="4283964"/>
            <a:ext cx="658368" cy="658368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21" name="Image 3" descr="/home/claude/pptx_build/icons/negconstra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44855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265676"/>
            <a:ext cx="23996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Constraints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13232" y="5088636"/>
            <a:ext cx="308549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what’s off-limits — AI over-helps unless told not to.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01642" y="4082796"/>
            <a:ext cx="3588410" cy="2226564"/>
          </a:xfrm>
          <a:prstGeom prst="roundRect">
            <a:avLst>
              <a:gd name="adj" fmla="val 3696"/>
            </a:avLst>
          </a:prstGeom>
          <a:solidFill>
            <a:srgbClr val="E7FBF6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39386" y="4283964"/>
            <a:ext cx="658368" cy="658368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26" name="Image 4" descr="/home/claude/pptx_build/icons/iterativ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978" y="4448556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7482" y="4265676"/>
            <a:ext cx="23996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Iterative Refinement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57674" y="5088636"/>
            <a:ext cx="308549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back with specific corrections, not a full re-ask.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46085" y="4082796"/>
            <a:ext cx="3588410" cy="2226564"/>
          </a:xfrm>
          <a:prstGeom prst="roundRect">
            <a:avLst>
              <a:gd name="adj" fmla="val 3696"/>
            </a:avLst>
          </a:prstGeom>
          <a:solidFill>
            <a:srgbClr val="E7FBF6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83829" y="4283964"/>
            <a:ext cx="658368" cy="658368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31" name="Image 5" descr="/home/claude/pptx_build/icons/contex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8421" y="4448556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51925" y="4265676"/>
            <a:ext cx="23996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Concrete Context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02117" y="5088636"/>
            <a:ext cx="308549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errors and schemas — paraphrasing loses the detail with the bug.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Description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DESCRIPTION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Prompt → Strong Prompt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206240" cy="4114800"/>
          </a:xfrm>
          <a:prstGeom prst="roundRect">
            <a:avLst>
              <a:gd name="adj" fmla="val 2000"/>
            </a:avLst>
          </a:prstGeom>
          <a:solidFill>
            <a:srgbClr val="FFF1EC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"Fix this code."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error, no context, no constraints. The AI has to guess what "fix" even means.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0" y="3337560"/>
            <a:ext cx="640080" cy="640080"/>
          </a:xfrm>
          <a:prstGeom prst="ellipse">
            <a:avLst/>
          </a:prstGeom>
          <a:solidFill>
            <a:srgbClr val="141B41"/>
          </a:solidFill>
          <a:ln/>
        </p:spPr>
      </p:sp>
      <p:pic>
        <p:nvPicPr>
          <p:cNvPr id="9" name="Image 0" descr="/home/claude/pptx_build/icons/arrow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4658" y="3481578"/>
            <a:ext cx="352044" cy="3520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72200" y="1600200"/>
            <a:ext cx="5559552" cy="4114800"/>
          </a:xfrm>
          <a:prstGeom prst="roundRect">
            <a:avLst>
              <a:gd name="adj" fmla="val 2000"/>
            </a:avLst>
          </a:prstGeom>
          <a:solidFill>
            <a:srgbClr val="E7FBF6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4652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46520" y="2194560"/>
            <a:ext cx="50292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function throws a NullReferenceException on line 42 when user.Profile is null. Here’s the full function and call site. Fix it so it fails gracefully with a logged warning instead of throwing. Keep the method signature unchanged."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46520" y="48920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+ Context + Constraint + implied Format — all in one prompt.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 · Module 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LAB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9265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Rewrite Sprint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77195" y="388620"/>
            <a:ext cx="960120" cy="9601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5" name="Image 0" descr="/home/claude/pptx_build/icons/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7225" y="628650"/>
            <a:ext cx="480060" cy="480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54335" y="1417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11277295" cy="640080"/>
          </a:xfrm>
          <a:prstGeom prst="roundRect">
            <a:avLst>
              <a:gd name="adj" fmla="val 12857"/>
            </a:avLst>
          </a:prstGeom>
          <a:solidFill>
            <a:srgbClr val="212A5C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141732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3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vague prompt into a high-yield one and see the output-quality gap directly.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359152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359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2304288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real backlog task: a bug, small feature, doc, or config you actually owe someone.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017520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05840" y="2962656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natural, vague first-draft prompt. Run it. Save the output.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3675888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3675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05840" y="3621024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using Goal / Context / Constraints / Format, plus 2+ techniques. Run it. Save the output.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4334256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334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05840" y="4279392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what specifically got better — fewer follow-ups, matched conventions, caught an edge case?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4992624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992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05840" y="4937760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groups of 3: pick the weakest prompt in the group and rewrite it together, narrating your reasoning.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5733288"/>
            <a:ext cx="11277295" cy="530352"/>
          </a:xfrm>
          <a:prstGeom prst="roundRect">
            <a:avLst>
              <a:gd name="adj" fmla="val 15517"/>
            </a:avLst>
          </a:prstGeom>
          <a:solidFill>
            <a:srgbClr val="232C5C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31520" y="5733288"/>
            <a:ext cx="107286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 </a:t>
            </a:r>
            <a:pPr indent="0" marL="0">
              <a:buNone/>
            </a:pPr>
            <a:r>
              <a:rPr lang="en-US" sz="1250" i="1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single addition made the biggest quality difference — context, constraints, format, or examples?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 · Module 3 Lab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659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410048" y="2377440"/>
            <a:ext cx="1371600" cy="1371600"/>
          </a:xfrm>
          <a:prstGeom prst="ellipse">
            <a:avLst/>
          </a:prstGeom>
          <a:solidFill>
            <a:srgbClr val="212A5C"/>
          </a:solidFill>
          <a:ln/>
        </p:spPr>
      </p:sp>
      <p:pic>
        <p:nvPicPr>
          <p:cNvPr id="4" name="Image 0" descr="/home/claude/pptx_build/icons/discern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6664" y="2734056"/>
            <a:ext cx="658368" cy="658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10048" y="2377440"/>
            <a:ext cx="1371600" cy="1371600"/>
          </a:xfrm>
          <a:prstGeom prst="ellipse">
            <a:avLst/>
          </a:prstGeom>
          <a:ln w="19050">
            <a:solidFill>
              <a:srgbClr val="00C9A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397764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Discernment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8006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AI Outputs Critically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 · Module 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DISCERNMENT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Bias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01488" y="1737360"/>
            <a:ext cx="1188720" cy="11887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5" name="Image 0" descr="/home/claude/pptx_build/icons/bi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8668" y="203454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06324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"Confident tone ≠ Correctness"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737360" y="3794760"/>
            <a:ext cx="8716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bias is the tendency to over-trust an automated system’s output — especially when it’s presented fluently and without visible hedging.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280160" y="4937760"/>
            <a:ext cx="9628632" cy="1234440"/>
          </a:xfrm>
          <a:prstGeom prst="roundRect">
            <a:avLst>
              <a:gd name="adj" fmla="val 6667"/>
            </a:avLst>
          </a:prstGeom>
          <a:solidFill>
            <a:srgbClr val="FFF1EC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554480" y="5029200"/>
            <a:ext cx="9079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this specifically: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is often lighter on AI-generated PRs than human ones, because "it’s just generated boilerplate" — exactly backwards, since generated code hasn’t had a human reasoning through the edge cases.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 · Module 4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DISCERNMENT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7-Point Discernment Checklist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571500"/>
          </a:xfrm>
          <a:prstGeom prst="roundRect">
            <a:avLst>
              <a:gd name="adj" fmla="val 14400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57350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6" name="Image 0" descr="/home/claude/pptx_build/icons/check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6022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00200"/>
            <a:ext cx="2834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Correctness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434840" y="1600200"/>
            <a:ext cx="70408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actually do what was asked? Did you trace/run it?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2283714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0" name="Image 1" descr="/home/claude/pptx_build/icons/check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2386584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226564"/>
            <a:ext cx="2834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Verifiability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434840" y="2226564"/>
            <a:ext cx="70408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every API, package, or flag referenced actually real?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852928"/>
            <a:ext cx="11274552" cy="571500"/>
          </a:xfrm>
          <a:prstGeom prst="roundRect">
            <a:avLst>
              <a:gd name="adj" fmla="val 14400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2960" y="2910078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5" name="Image 2" descr="/home/claude/pptx_build/icons/checkl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3012948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2852928"/>
            <a:ext cx="2834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434840" y="2852928"/>
            <a:ext cx="70408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risk, secrets, auth/authz, permissions, dependencies.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22960" y="3536442"/>
            <a:ext cx="457200" cy="45720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19" name="Image 3" descr="/home/claude/pptx_build/icons/checkl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3639312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3479292"/>
            <a:ext cx="2834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 with Constraints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4434840" y="3479292"/>
            <a:ext cx="70408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respect your style, performance &amp; "don’t change" rules?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57200" y="4105656"/>
            <a:ext cx="11274552" cy="571500"/>
          </a:xfrm>
          <a:prstGeom prst="roundRect">
            <a:avLst>
              <a:gd name="adj" fmla="val 14400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22960" y="4162806"/>
            <a:ext cx="457200" cy="45720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24" name="Image 4" descr="/home/claude/pptx_build/icons/checkli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" y="4265676"/>
            <a:ext cx="251460" cy="2514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508760" y="4105656"/>
            <a:ext cx="2834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Maintainability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4434840" y="4105656"/>
            <a:ext cx="70408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 teammate understand this in six months?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822960" y="4789170"/>
            <a:ext cx="457200" cy="45720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28" name="Image 5" descr="/home/claude/pptx_build/icons/checklis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30" y="4892040"/>
            <a:ext cx="251460" cy="2514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508760" y="4732020"/>
            <a:ext cx="2834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Completeness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4434840" y="4732020"/>
            <a:ext cx="70408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edge cases you care about covered — not just the happy path?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457200" y="5358384"/>
            <a:ext cx="11274552" cy="571500"/>
          </a:xfrm>
          <a:prstGeom prst="roundRect">
            <a:avLst>
              <a:gd name="adj" fmla="val 14400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22960" y="5415534"/>
            <a:ext cx="457200" cy="45720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33" name="Image 6" descr="/home/claude/pptx_build/icons/checklis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30" y="5518404"/>
            <a:ext cx="251460" cy="25146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508760" y="5358384"/>
            <a:ext cx="2834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 Quality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4434840" y="5358384"/>
            <a:ext cx="70408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stated justification actually hold up under scrutiny?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 · Module 4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LAB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9265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Flawed PR 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77195" y="388620"/>
            <a:ext cx="960120" cy="9601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5" name="Image 0" descr="/home/claude/pptx_build/icons/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7225" y="628650"/>
            <a:ext cx="480060" cy="480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54335" y="1417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11277295" cy="640080"/>
          </a:xfrm>
          <a:prstGeom prst="roundRect">
            <a:avLst>
              <a:gd name="adj" fmla="val 12857"/>
            </a:avLst>
          </a:prstGeom>
          <a:solidFill>
            <a:srgbClr val="212A5C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141732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3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checklist-driven review of AI-generated output under realistic time pressure.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359152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359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2304288"/>
            <a:ext cx="104543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 an AI-generated "PR" (a small endpoint, Terraform snippet, or data function) from a teammate. Review it exactly as you would a real one.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200400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05840" y="3145536"/>
            <a:ext cx="104543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7-point Discernment checklist, trace through logic and verify any unfamiliar API/library claim against real docs.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4041648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05840" y="3986784"/>
            <a:ext cx="104543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contains 3 planted issues: a real bug, a security issue, and a hallucinated claim. Find them within 20 minutes.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4882896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882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05840" y="4828032"/>
            <a:ext cx="104543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issue, note which checklist dimension caught it, then write a 2–3 sentence review comment as you would on the real PR.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5806440"/>
            <a:ext cx="11277295" cy="457200"/>
          </a:xfrm>
          <a:prstGeom prst="roundRect">
            <a:avLst>
              <a:gd name="adj" fmla="val 18000"/>
            </a:avLst>
          </a:prstGeom>
          <a:solidFill>
            <a:srgbClr val="232C5C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31520" y="58064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 </a:t>
            </a:r>
            <a:pPr indent="0" marL="0">
              <a:buNone/>
            </a:pPr>
            <a:r>
              <a:rPr lang="en-US" sz="1250" i="1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3 issues was hardest to catch, and why? Which checklist dimension do YOU tend to skip under time pressure?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 · Module 4 Lab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659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410048" y="2377440"/>
            <a:ext cx="1371600" cy="1371600"/>
          </a:xfrm>
          <a:prstGeom prst="ellipse">
            <a:avLst/>
          </a:prstGeom>
          <a:solidFill>
            <a:srgbClr val="212A5C"/>
          </a:solidFill>
          <a:ln/>
        </p:spPr>
      </p:sp>
      <p:pic>
        <p:nvPicPr>
          <p:cNvPr id="4" name="Image 0" descr="/home/claude/pptx_build/icons/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6664" y="2734056"/>
            <a:ext cx="658368" cy="658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10048" y="2377440"/>
            <a:ext cx="1371600" cy="1371600"/>
          </a:xfrm>
          <a:prstGeom prst="ellipse">
            <a:avLst/>
          </a:prstGeom>
          <a:ln w="19050">
            <a:solidFill>
              <a:srgbClr val="00C9A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397764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 &amp; Diligence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8006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Framework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 · Module 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THE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Description → Discernment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358488" y="2194560"/>
            <a:ext cx="3474720" cy="3474720"/>
          </a:xfrm>
          <a:prstGeom prst="ellipse">
            <a:avLst/>
          </a:prstGeom>
          <a:ln w="25400">
            <a:solidFill>
              <a:srgbClr val="D6D9E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4387289" y="2223361"/>
            <a:ext cx="960120" cy="960120"/>
          </a:xfrm>
          <a:prstGeom prst="ellipse">
            <a:avLst/>
          </a:prstGeom>
          <a:solidFill>
            <a:srgbClr val="141B41"/>
          </a:solidFill>
          <a:ln/>
        </p:spPr>
      </p:sp>
      <p:pic>
        <p:nvPicPr>
          <p:cNvPr id="6" name="Image 0" descr="/home/claude/pptx_build/icons/descrip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7319" y="2463391"/>
            <a:ext cx="480060" cy="4800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52949" y="1834741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844287" y="2223361"/>
            <a:ext cx="960120" cy="96012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9" name="Image 1" descr="/home/claude/pptx_build/icons/autom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317" y="2463391"/>
            <a:ext cx="480060" cy="4800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9947" y="1834741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844287" y="4680359"/>
            <a:ext cx="960120" cy="9601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2" name="Image 2" descr="/home/claude/pptx_build/icons/discern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317" y="4920389"/>
            <a:ext cx="480060" cy="4800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9947" y="5690771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Discern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4387289" y="4680359"/>
            <a:ext cx="960120" cy="96012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15" name="Image 3" descr="/home/claude/pptx_build/icons/iterati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319" y="4920389"/>
            <a:ext cx="480060" cy="4800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52949" y="5690771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5090008" y="3154680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not getting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perfect on try 1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is the real skill.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 · Module 5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DILIGENCE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Types of Diligence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566160" cy="3246120"/>
          </a:xfrm>
          <a:prstGeom prst="roundRect">
            <a:avLst>
              <a:gd name="adj" fmla="val 2535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0" y="1993392"/>
            <a:ext cx="822960" cy="822960"/>
          </a:xfrm>
          <a:prstGeom prst="ellipse">
            <a:avLst/>
          </a:prstGeom>
          <a:solidFill>
            <a:srgbClr val="141B41"/>
          </a:solidFill>
          <a:ln/>
        </p:spPr>
      </p:sp>
      <p:pic>
        <p:nvPicPr>
          <p:cNvPr id="6" name="Image 0" descr="/home/claude/pptx_build/icons/cre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4540" y="219913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17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Creation Diligence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85800" y="35204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tool for the task’s sensitivity. Check your data policy before pasting proprietary code or secrets into any external tool.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79392" y="1691640"/>
            <a:ext cx="3566160" cy="3246120"/>
          </a:xfrm>
          <a:prstGeom prst="roundRect">
            <a:avLst>
              <a:gd name="adj" fmla="val 2535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50992" y="1993392"/>
            <a:ext cx="822960" cy="82296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11" name="Image 1" descr="/home/claude/pptx_build/icons/transparenc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732" y="219913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62272" y="3017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 Diligence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507992" y="35204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 AI’s role — in PR descriptions, commit messages, or docs where your org expects it.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691640"/>
            <a:ext cx="3566160" cy="3246120"/>
          </a:xfrm>
          <a:prstGeom prst="roundRect">
            <a:avLst>
              <a:gd name="adj" fmla="val 2535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73184" y="1993392"/>
            <a:ext cx="822960" cy="82296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6" name="Image 2" descr="/home/claude/pptx_build/icons/deploy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924" y="2199132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84464" y="3017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Diligence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330184" y="35204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accountability for verifying and vouching for what you ship, tested and reviewed like a human wrote it.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5166360"/>
            <a:ext cx="11274552" cy="1005840"/>
          </a:xfrm>
          <a:prstGeom prst="roundRect">
            <a:avLst>
              <a:gd name="adj" fmla="val 8182"/>
            </a:avLst>
          </a:prstGeom>
          <a:solidFill>
            <a:srgbClr val="141B41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22960" y="516636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AI said so" is never an acceptable answer when something goes wrong.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 · Module 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LAB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9265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Capstone: The Full 4D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77195" y="388620"/>
            <a:ext cx="960120" cy="9601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5" name="Image 0" descr="/home/claude/pptx_build/icons/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7225" y="628650"/>
            <a:ext cx="480060" cy="480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54335" y="1417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11277295" cy="640080"/>
          </a:xfrm>
          <a:prstGeom prst="roundRect">
            <a:avLst>
              <a:gd name="adj" fmla="val 12857"/>
            </a:avLst>
          </a:prstGeom>
          <a:solidFill>
            <a:srgbClr val="212A5C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141732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3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one realistic task through all 4 Ds end-to-end: a new POST /users/{id}/reset-password endpoint.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359152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359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2304288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Delegation: Decide which parts to delegate vs. design/review yourself — justify in one sentence.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017520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05840" y="2962656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Write a structured prompt (Goal / Context / Constraints / Format) covering both security requirements. Run it.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3675888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3675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05840" y="3621024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Discernment: Run the 7-point checklist. Does it truly prevent enumeration? Is rate-limiting real, not just claimed?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4334256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334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05840" y="4279392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the Loop: Write one targeted follow-up prompt addressing the specific gap you found. Re-run.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4992624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992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05840" y="4937760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Diligence: Write one line each for Creation, Transparency, and Deployment before this could ship.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5733288"/>
            <a:ext cx="11277295" cy="530352"/>
          </a:xfrm>
          <a:prstGeom prst="roundRect">
            <a:avLst>
              <a:gd name="adj" fmla="val 15517"/>
            </a:avLst>
          </a:prstGeom>
          <a:solidFill>
            <a:srgbClr val="232C5C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31520" y="5733288"/>
            <a:ext cx="107286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 </a:t>
            </a:r>
            <a:pPr indent="0" marL="0">
              <a:buNone/>
            </a:pPr>
            <a:r>
              <a:rPr lang="en-US" sz="1250" i="1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this capstone touch the weak D you identified this morning? What will you do differently on Monday?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 · Module 5 Lab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THIS WITH YOU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4D Quick Reference Card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978408"/>
          </a:xfrm>
          <a:prstGeom prst="roundRect">
            <a:avLst>
              <a:gd name="adj" fmla="val 8411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5820" y="1746504"/>
            <a:ext cx="685800" cy="685800"/>
          </a:xfrm>
          <a:prstGeom prst="ellipse">
            <a:avLst/>
          </a:prstGeom>
          <a:solidFill>
            <a:srgbClr val="141B41"/>
          </a:solidFill>
          <a:ln/>
        </p:spPr>
      </p:sp>
      <p:pic>
        <p:nvPicPr>
          <p:cNvPr id="6" name="Image 0" descr="/home/claude/pptx_build/icons/deleg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917954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600200"/>
            <a:ext cx="23774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Delegation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206240" y="1600200"/>
            <a:ext cx="7315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this task appropriate to hand to AI at all? What must I keep control of?"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7200" y="2715768"/>
            <a:ext cx="11274552" cy="978408"/>
          </a:xfrm>
          <a:prstGeom prst="roundRect">
            <a:avLst>
              <a:gd name="adj" fmla="val 84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45820" y="2862072"/>
            <a:ext cx="685800" cy="68580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11" name="Image 1" descr="/home/claude/pptx_build/icons/descrip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3033522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2715768"/>
            <a:ext cx="23774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206240" y="2715768"/>
            <a:ext cx="7315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"Have I given goal, context, constraints, and format — or am I hoping it guesses?"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57200" y="3831336"/>
            <a:ext cx="11274552" cy="978408"/>
          </a:xfrm>
          <a:prstGeom prst="roundRect">
            <a:avLst>
              <a:gd name="adj" fmla="val 8411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" y="3977640"/>
            <a:ext cx="685800" cy="6858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6" name="Image 2" descr="/home/claude/pptx_build/icons/discern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14909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831336"/>
            <a:ext cx="23774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Discernment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206240" y="3831336"/>
            <a:ext cx="7315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"Have I actually verified this, or does it just sound right?"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457200" y="4946904"/>
            <a:ext cx="11274552" cy="978408"/>
          </a:xfrm>
          <a:prstGeom prst="roundRect">
            <a:avLst>
              <a:gd name="adj" fmla="val 84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5820" y="5093208"/>
            <a:ext cx="685800" cy="685800"/>
          </a:xfrm>
          <a:prstGeom prst="ellipse">
            <a:avLst/>
          </a:prstGeom>
          <a:solidFill>
            <a:srgbClr val="141B41"/>
          </a:solidFill>
          <a:ln/>
        </p:spPr>
      </p:sp>
      <p:pic>
        <p:nvPicPr>
          <p:cNvPr id="21" name="Image 3" descr="/home/claude/pptx_build/icons/dilige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" y="5264658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4946904"/>
            <a:ext cx="23774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Diligence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206240" y="4946904"/>
            <a:ext cx="7315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"Am I prepared to put my name on this? Have I disclosed AI’s role?"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 · Reference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463040"/>
            <a:ext cx="1097280" cy="109728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3" name="Image 0" descr="/home/claude/pptx_build/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1528" y="17373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74320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371600" y="3611880"/>
            <a:ext cx="94484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concrete commitment: a specific behavior you’ll change on your very next AI-assisted task.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21228" y="4549140"/>
            <a:ext cx="685800" cy="685800"/>
          </a:xfrm>
          <a:prstGeom prst="ellipse">
            <a:avLst/>
          </a:prstGeom>
          <a:solidFill>
            <a:srgbClr val="212A5C"/>
          </a:solidFill>
          <a:ln/>
        </p:spPr>
      </p:sp>
      <p:pic>
        <p:nvPicPr>
          <p:cNvPr id="7" name="Image 1" descr="/home/claude/pptx_build/icons/deleg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678" y="4720590"/>
            <a:ext cx="342900" cy="3429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421228" y="4549140"/>
            <a:ext cx="685800" cy="685800"/>
          </a:xfrm>
          <a:prstGeom prst="ellipse">
            <a:avLst/>
          </a:prstGeom>
          <a:ln w="15240">
            <a:solidFill>
              <a:srgbClr val="00C9A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986888" y="52852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975708" y="4549140"/>
            <a:ext cx="685800" cy="685800"/>
          </a:xfrm>
          <a:prstGeom prst="ellipse">
            <a:avLst/>
          </a:prstGeom>
          <a:solidFill>
            <a:srgbClr val="212A5C"/>
          </a:solidFill>
          <a:ln/>
        </p:spPr>
      </p:sp>
      <p:pic>
        <p:nvPicPr>
          <p:cNvPr id="11" name="Image 2" descr="/home/claude/pptx_build/icons/descrip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158" y="4720590"/>
            <a:ext cx="342900" cy="3429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975708" y="4549140"/>
            <a:ext cx="685800" cy="685800"/>
          </a:xfrm>
          <a:prstGeom prst="ellipse">
            <a:avLst/>
          </a:prstGeom>
          <a:ln w="15240">
            <a:solidFill>
              <a:srgbClr val="00C9A7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41368" y="52852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530188" y="4549140"/>
            <a:ext cx="685800" cy="685800"/>
          </a:xfrm>
          <a:prstGeom prst="ellipse">
            <a:avLst/>
          </a:prstGeom>
          <a:solidFill>
            <a:srgbClr val="212A5C"/>
          </a:solidFill>
          <a:ln/>
        </p:spPr>
      </p:sp>
      <p:pic>
        <p:nvPicPr>
          <p:cNvPr id="15" name="Image 3" descr="/home/claude/pptx_build/icons/discernm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638" y="4720590"/>
            <a:ext cx="342900" cy="3429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530188" y="4549140"/>
            <a:ext cx="685800" cy="685800"/>
          </a:xfrm>
          <a:prstGeom prst="ellipse">
            <a:avLst/>
          </a:prstGeom>
          <a:ln w="15240">
            <a:solidFill>
              <a:srgbClr val="00C9A7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6095848" y="52852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Discernment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8084668" y="4549140"/>
            <a:ext cx="685800" cy="685800"/>
          </a:xfrm>
          <a:prstGeom prst="ellipse">
            <a:avLst/>
          </a:prstGeom>
          <a:solidFill>
            <a:srgbClr val="212A5C"/>
          </a:solidFill>
          <a:ln/>
        </p:spPr>
      </p:sp>
      <p:pic>
        <p:nvPicPr>
          <p:cNvPr id="19" name="Image 4" descr="/home/claude/pptx_build/icons/diligen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6118" y="4720590"/>
            <a:ext cx="342900" cy="34290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8084668" y="4549140"/>
            <a:ext cx="685800" cy="685800"/>
          </a:xfrm>
          <a:prstGeom prst="ellipse">
            <a:avLst/>
          </a:prstGeom>
          <a:ln w="15240">
            <a:solidFill>
              <a:srgbClr val="00C9A7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7650328" y="52852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see you in Session 2.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 · Closing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2026-07-17T09:32:00Z</dcterms:created>
  <dcterms:modified xsi:type="dcterms:W3CDTF">2026-07-17T09:32:00Z</dcterms:modified>
</cp:coreProperties>
</file>